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.fntdata"/><Relationship Id="rId6" Type="http://schemas.openxmlformats.org/officeDocument/2006/relationships/slide" Target="slides/slide1.xml"/><Relationship Id="rId18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1bc5da6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1bc5da6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1bc5da66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1bc5da66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1bc5da66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1bc5da66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1bc5da66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1bc5da66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1bc5da66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1bc5da66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1bc5da66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1bc5da66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1bc5da66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1bc5da66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1bc5da66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1bc5da66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1bc5da66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1bc5da66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1bc5da66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1bc5da66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1bc5da66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1bc5da66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CASO DE ESTUDIO HISTORIAL CREDITICIO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JIMMY ROMÁN VALDÉS SANTACRUZ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1F1F1F"/>
                </a:solidFill>
                <a:highlight>
                  <a:srgbClr val="FFFFFF"/>
                </a:highlight>
              </a:rPr>
              <a:t>Análisis de Clasificación de Aprobación de Préstamos: Un Enfoque con Regresión Logística</a:t>
            </a:r>
            <a:r>
              <a:rPr lang="es" sz="1100"/>
              <a:t> 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rgbClr val="1F1F1F"/>
                </a:solidFill>
                <a:highlight>
                  <a:srgbClr val="FFFFFF"/>
                </a:highlight>
              </a:rPr>
              <a:t>Agenda:</a:t>
            </a:r>
            <a:endParaRPr b="1" sz="1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700"/>
              <a:buAutoNum type="arabicPeriod"/>
            </a:pPr>
            <a:r>
              <a:rPr lang="es" sz="1700">
                <a:solidFill>
                  <a:srgbClr val="1F1F1F"/>
                </a:solidFill>
                <a:highlight>
                  <a:srgbClr val="FFFFFF"/>
                </a:highlight>
              </a:rPr>
              <a:t>Introducción al Dataset</a:t>
            </a:r>
            <a:endParaRPr sz="1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700"/>
              <a:buAutoNum type="arabicPeriod"/>
            </a:pPr>
            <a:r>
              <a:rPr lang="es" sz="1700">
                <a:solidFill>
                  <a:srgbClr val="1F1F1F"/>
                </a:solidFill>
                <a:highlight>
                  <a:srgbClr val="FFFFFF"/>
                </a:highlight>
              </a:rPr>
              <a:t>Análisis Exploratorio de Datos (EDA)</a:t>
            </a:r>
            <a:endParaRPr sz="1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700"/>
              <a:buAutoNum type="arabicPeriod"/>
            </a:pPr>
            <a:r>
              <a:rPr lang="es" sz="1700">
                <a:solidFill>
                  <a:srgbClr val="1F1F1F"/>
                </a:solidFill>
                <a:highlight>
                  <a:srgbClr val="FFFFFF"/>
                </a:highlight>
              </a:rPr>
              <a:t>Preparación de Datos</a:t>
            </a:r>
            <a:endParaRPr sz="1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700"/>
              <a:buAutoNum type="arabicPeriod"/>
            </a:pPr>
            <a:r>
              <a:rPr lang="es" sz="1700">
                <a:solidFill>
                  <a:srgbClr val="1F1F1F"/>
                </a:solidFill>
                <a:highlight>
                  <a:srgbClr val="FFFFFF"/>
                </a:highlight>
              </a:rPr>
              <a:t>Modelo de Regresión Logística</a:t>
            </a:r>
            <a:endParaRPr sz="1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700"/>
              <a:buAutoNum type="arabicPeriod"/>
            </a:pPr>
            <a:r>
              <a:rPr lang="es" sz="1700">
                <a:solidFill>
                  <a:srgbClr val="1F1F1F"/>
                </a:solidFill>
                <a:highlight>
                  <a:srgbClr val="FFFFFF"/>
                </a:highlight>
              </a:rPr>
              <a:t>Métricas de Clasificación</a:t>
            </a:r>
            <a:endParaRPr sz="1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700"/>
              <a:buAutoNum type="arabicPeriod"/>
            </a:pPr>
            <a:r>
              <a:rPr lang="es" sz="1700">
                <a:solidFill>
                  <a:srgbClr val="1F1F1F"/>
                </a:solidFill>
                <a:highlight>
                  <a:srgbClr val="FFFFFF"/>
                </a:highlight>
              </a:rPr>
              <a:t>Conclusiones y Próximos Pasos</a:t>
            </a:r>
            <a:endParaRPr sz="1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63871"/>
              <a:buFont typeface="Arial"/>
              <a:buNone/>
            </a:pPr>
            <a:r>
              <a:rPr b="1" lang="es" sz="1722">
                <a:solidFill>
                  <a:srgbClr val="1F1F1F"/>
                </a:solidFill>
                <a:highlight>
                  <a:srgbClr val="FFFFFF"/>
                </a:highlight>
              </a:rPr>
              <a:t>Introducción al Dataset</a:t>
            </a:r>
            <a:endParaRPr b="1" sz="1722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100" y="545425"/>
            <a:ext cx="8271651" cy="3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725" y="1224400"/>
            <a:ext cx="8648450" cy="136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725" y="2746025"/>
            <a:ext cx="8648449" cy="149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819150" y="422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es" sz="1500">
                <a:solidFill>
                  <a:srgbClr val="1F1F1F"/>
                </a:solidFill>
                <a:highlight>
                  <a:srgbClr val="FFFFFF"/>
                </a:highlight>
              </a:rPr>
              <a:t>Análisis Exploratorio de Datos (EDA) - Información General</a:t>
            </a:r>
            <a:endParaRPr b="1" sz="1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763" y="920550"/>
            <a:ext cx="8648476" cy="16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2186" y="2441525"/>
            <a:ext cx="2984790" cy="248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es" sz="1500">
                <a:solidFill>
                  <a:srgbClr val="1F1F1F"/>
                </a:solidFill>
                <a:highlight>
                  <a:srgbClr val="FFFFFF"/>
                </a:highlight>
              </a:rPr>
              <a:t>Análisis Exploratorio de Datos (EDA) - Estadísticas y Categorías</a:t>
            </a:r>
            <a:endParaRPr b="1" sz="1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975" y="1170125"/>
            <a:ext cx="8615924" cy="270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1088" y="2326750"/>
            <a:ext cx="4333875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es" sz="1500">
                <a:solidFill>
                  <a:srgbClr val="1F1F1F"/>
                </a:solidFill>
                <a:highlight>
                  <a:srgbClr val="FFFFFF"/>
                </a:highlight>
              </a:rPr>
              <a:t>Preparación de Datos</a:t>
            </a:r>
            <a:endParaRPr b="1" sz="1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425" y="1170125"/>
            <a:ext cx="8529099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873400" y="6177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6572"/>
              <a:buFont typeface="Arial"/>
              <a:buNone/>
            </a:pPr>
            <a:r>
              <a:rPr b="1" lang="es" sz="1944">
                <a:solidFill>
                  <a:srgbClr val="1F1F1F"/>
                </a:solidFill>
                <a:highlight>
                  <a:srgbClr val="FFFFFF"/>
                </a:highlight>
              </a:rPr>
              <a:t>Métricas de Clasificación - Matriz de Confusión</a:t>
            </a:r>
            <a:endParaRPr b="1" sz="1944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300" y="1495675"/>
            <a:ext cx="6565600" cy="26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819150" y="2704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Matriz de Confusión</a:t>
            </a:r>
            <a:endParaRPr/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075" y="1103200"/>
            <a:ext cx="4872200" cy="377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s" sz="2167">
                <a:solidFill>
                  <a:srgbClr val="1F1F1F"/>
                </a:solidFill>
                <a:highlight>
                  <a:srgbClr val="FFFFFF"/>
                </a:highlight>
              </a:rPr>
              <a:t>Métricas de Clasificación - Reporte y Errores</a:t>
            </a:r>
            <a:endParaRPr b="1" sz="2167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400" y="1594238"/>
            <a:ext cx="5077625" cy="195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819150" y="4115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Histograma de Errores (y_test-y_pred)</a:t>
            </a:r>
            <a:endParaRPr/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6700" y="1137575"/>
            <a:ext cx="5569687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819150" y="5519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48293"/>
              <a:buFont typeface="Arial"/>
              <a:buNone/>
            </a:pPr>
            <a:r>
              <a:rPr b="1" lang="es" sz="2278">
                <a:solidFill>
                  <a:srgbClr val="1F1F1F"/>
                </a:solidFill>
                <a:highlight>
                  <a:srgbClr val="FFFFFF"/>
                </a:highlight>
              </a:rPr>
              <a:t>Conclusiones Principales</a:t>
            </a:r>
            <a:endParaRPr b="1" sz="2278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425" y="1506525"/>
            <a:ext cx="8553450" cy="14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es" sz="1500">
                <a:solidFill>
                  <a:srgbClr val="1F1F1F"/>
                </a:solidFill>
                <a:highlight>
                  <a:srgbClr val="FFFFFF"/>
                </a:highlight>
              </a:rPr>
              <a:t>Conclusiones y Próximos Pasos</a:t>
            </a:r>
            <a:endParaRPr b="1" sz="1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210" y="1170125"/>
            <a:ext cx="8620125" cy="19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